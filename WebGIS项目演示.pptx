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3d03e09d474cd4" /><Relationship Type="http://schemas.openxmlformats.org/officeDocument/2006/relationships/extended-properties" Target="/docProps/app.xml" Id="R776f3acfa7ce47b5" /><Relationship Type="http://schemas.openxmlformats.org/officeDocument/2006/relationships/officeDocument" Target="/ppt/presentation.xml" Id="Rf4260d2073304e63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797df624e5654522"/>
  </p:sldMasterIdLst>
  <p:notesMasterIdLst>
    <p:notesMasterId xmlns:r="http://schemas.openxmlformats.org/officeDocument/2006/relationships" r:id="R0c015b6b6e424dbf"/>
  </p:notesMasterIdLst>
  <p:sldIdLst>
    <p:sldId xmlns:r="http://schemas.openxmlformats.org/officeDocument/2006/relationships" id="256" r:id="R09c1d4593a004038"/>
    <p:sldId xmlns:r="http://schemas.openxmlformats.org/officeDocument/2006/relationships" id="257" r:id="R28edba6b38c94f54"/>
    <p:sldId xmlns:r="http://schemas.openxmlformats.org/officeDocument/2006/relationships" id="258" r:id="R9737931e67b04b9a"/>
    <p:sldId xmlns:r="http://schemas.openxmlformats.org/officeDocument/2006/relationships" id="259" r:id="Reb6077a4ceb44acf"/>
    <p:sldId xmlns:r="http://schemas.openxmlformats.org/officeDocument/2006/relationships" id="260" r:id="R3d0c58af024e4e82"/>
    <p:sldId xmlns:r="http://schemas.openxmlformats.org/officeDocument/2006/relationships" id="261" r:id="R03c9865cfea548cf"/>
    <p:sldId xmlns:r="http://schemas.openxmlformats.org/officeDocument/2006/relationships" id="262" r:id="R4ececa95c4314dfb"/>
    <p:sldId xmlns:r="http://schemas.openxmlformats.org/officeDocument/2006/relationships" id="263" r:id="R6fdb2e6c6fba4c6c"/>
    <p:sldId xmlns:r="http://schemas.openxmlformats.org/officeDocument/2006/relationships" id="264" r:id="R6620a9bc787e41ad"/>
  </p:sldIdLst>
  <p:sldSz cx="12192000" cy="6858000"/>
  <p:notesSz cx="6858000" cy="9144000"/>
  <p:embeddedFontLst>
    <p:embeddedFont>
      <p:font typeface="Inter"/>
      <p:regular xmlns:r="http://schemas.openxmlformats.org/officeDocument/2006/relationships" r:id="Ra5b3de7283ed425e"/>
      <p:bold xmlns:r="http://schemas.openxmlformats.org/officeDocument/2006/relationships" r:id="R6c7dfd4ed3704017"/>
    </p:embeddedFont>
    <p:embeddedFont>
      <p:font typeface="Inter Medium"/>
      <p:regular xmlns:r="http://schemas.openxmlformats.org/officeDocument/2006/relationships" r:id="R737a2c6ee936406d"/>
    </p:embeddedFont>
    <p:embeddedFont>
      <p:font typeface="Inter SemiBold"/>
      <p:regular xmlns:r="http://schemas.openxmlformats.org/officeDocument/2006/relationships" r:id="Ra72dae21fa2d4f69"/>
      <p:bold xmlns:r="http://schemas.openxmlformats.org/officeDocument/2006/relationships" r:id="Red932e93917442c4"/>
    </p:embeddedFont>
    <p:embeddedFont>
      <p:font typeface="OpenAI Sans"/>
      <p:regular xmlns:r="http://schemas.openxmlformats.org/officeDocument/2006/relationships" r:id="Ra029f96fec2b4811"/>
      <p:bold xmlns:r="http://schemas.openxmlformats.org/officeDocument/2006/relationships" r:id="R34ee482cf41e4182"/>
      <p:italic xmlns:r="http://schemas.openxmlformats.org/officeDocument/2006/relationships" r:id="R311d70e896644ffc"/>
      <p:boldItalic xmlns:r="http://schemas.openxmlformats.org/officeDocument/2006/relationships" r:id="R1e5a373332674529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e55efe71674034" /><Relationship Type="http://schemas.openxmlformats.org/officeDocument/2006/relationships/slideMaster" Target="/ppt/slideMasters/slideMaster1.xml" Id="R797df624e5654522" /><Relationship Type="http://schemas.openxmlformats.org/officeDocument/2006/relationships/notesMaster" Target="/ppt/notesMasters/notesMaster1.xml" Id="R0c015b6b6e424dbf" /><Relationship Type="http://schemas.openxmlformats.org/officeDocument/2006/relationships/presProps" Target="/ppt/presProps.xml" Id="R74be875c9a6147b6" /><Relationship Type="http://schemas.openxmlformats.org/officeDocument/2006/relationships/viewProps" Target="/ppt/viewProps.xml" Id="R28873beaf6fa4a03" /><Relationship Type="http://schemas.openxmlformats.org/officeDocument/2006/relationships/tableStyles" Target="/ppt/tableStyles.xml" Id="R56e27f8ce28c42f5" /><Relationship Type="http://schemas.openxmlformats.org/officeDocument/2006/relationships/font" Target="/ppt/fonts/font.dat" Id="Ra5b3de7283ed425e" /><Relationship Type="http://schemas.openxmlformats.org/officeDocument/2006/relationships/font" Target="/ppt/fonts/font2.dat" Id="R6c7dfd4ed3704017" /><Relationship Type="http://schemas.openxmlformats.org/officeDocument/2006/relationships/font" Target="/ppt/fonts/font3.dat" Id="R737a2c6ee936406d" /><Relationship Type="http://schemas.openxmlformats.org/officeDocument/2006/relationships/font" Target="/ppt/fonts/font4.dat" Id="Ra72dae21fa2d4f69" /><Relationship Type="http://schemas.openxmlformats.org/officeDocument/2006/relationships/font" Target="/ppt/fonts/font5.dat" Id="Red932e93917442c4" /><Relationship Type="http://schemas.openxmlformats.org/officeDocument/2006/relationships/font" Target="/ppt/fonts/font6.dat" Id="Ra029f96fec2b4811" /><Relationship Type="http://schemas.openxmlformats.org/officeDocument/2006/relationships/font" Target="/ppt/fonts/font7.dat" Id="R34ee482cf41e4182" /><Relationship Type="http://schemas.openxmlformats.org/officeDocument/2006/relationships/font" Target="/ppt/fonts/font8.dat" Id="R311d70e896644ffc" /><Relationship Type="http://schemas.openxmlformats.org/officeDocument/2006/relationships/font" Target="/ppt/fonts/font9.dat" Id="R1e5a373332674529" /><Relationship Type="http://schemas.openxmlformats.org/officeDocument/2006/relationships/slide" Target="/ppt/slides/slide1.xml" Id="R09c1d4593a004038" /><Relationship Type="http://schemas.openxmlformats.org/officeDocument/2006/relationships/slide" Target="/ppt/slides/slide2.xml" Id="R28edba6b38c94f54" /><Relationship Type="http://schemas.openxmlformats.org/officeDocument/2006/relationships/slide" Target="/ppt/slides/slide3.xml" Id="R9737931e67b04b9a" /><Relationship Type="http://schemas.openxmlformats.org/officeDocument/2006/relationships/slide" Target="/ppt/slides/slide4.xml" Id="Reb6077a4ceb44acf" /><Relationship Type="http://schemas.openxmlformats.org/officeDocument/2006/relationships/slide" Target="/ppt/slides/slide5.xml" Id="R3d0c58af024e4e82" /><Relationship Type="http://schemas.openxmlformats.org/officeDocument/2006/relationships/slide" Target="/ppt/slides/slide6.xml" Id="R03c9865cfea548cf" /><Relationship Type="http://schemas.openxmlformats.org/officeDocument/2006/relationships/slide" Target="/ppt/slides/slide7.xml" Id="R4ececa95c4314dfb" /><Relationship Type="http://schemas.openxmlformats.org/officeDocument/2006/relationships/slide" Target="/ppt/slides/slide8.xml" Id="R6fdb2e6c6fba4c6c" /><Relationship Type="http://schemas.openxmlformats.org/officeDocument/2006/relationships/slide" Target="/ppt/slides/slide9.xml" Id="R6620a9bc787e41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9b09eff8ab43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50da342d3f44f9" /><Relationship Type="http://schemas.openxmlformats.org/officeDocument/2006/relationships/notesMaster" Target="/ppt/notesMasters/notesMaster1.xml" Id="R3c8f5d4cc70d4c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db47dc01fc450d" /><Relationship Type="http://schemas.openxmlformats.org/officeDocument/2006/relationships/notesMaster" Target="/ppt/notesMasters/notesMaster1.xml" Id="R9b25a2acf6de42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1674dce178458a" /><Relationship Type="http://schemas.openxmlformats.org/officeDocument/2006/relationships/notesMaster" Target="/ppt/notesMasters/notesMaster1.xml" Id="R1aac0715d30349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3442ce149e4086" /><Relationship Type="http://schemas.openxmlformats.org/officeDocument/2006/relationships/notesMaster" Target="/ppt/notesMasters/notesMaster1.xml" Id="Re13afa6d8e4a4a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d25ace38fe4ddb" /><Relationship Type="http://schemas.openxmlformats.org/officeDocument/2006/relationships/notesMaster" Target="/ppt/notesMasters/notesMaster1.xml" Id="R5830117c241046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577059b99f4b51" /><Relationship Type="http://schemas.openxmlformats.org/officeDocument/2006/relationships/notesMaster" Target="/ppt/notesMasters/notesMaster1.xml" Id="Re7849fca187d42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5de5c7d4674278" /><Relationship Type="http://schemas.openxmlformats.org/officeDocument/2006/relationships/notesMaster" Target="/ppt/notesMasters/notesMaster1.xml" Id="R57938290b4394e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24dd1fd7464098" /><Relationship Type="http://schemas.openxmlformats.org/officeDocument/2006/relationships/notesMaster" Target="/ppt/notesMasters/notesMaster1.xml" Id="R1c056e0e069448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6f95c643dd4310" /><Relationship Type="http://schemas.openxmlformats.org/officeDocument/2006/relationships/notesMaster" Target="/ppt/notesMasters/notesMaster1.xml" Id="R3239916c0df748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repository: 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repository: AGENTS.md; frontend/AGENTS.md; backend/CLAUDE.md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Internal repository: AGENTS.md; backend/CLAUDE.md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Internal repository: frontend/package.json; backend/pom.xml; frontend/AGENTS.md; backend/CLAUDE.md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repository: AGENTS.md; backend/CLAUDE.md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repository: frontend/AGENTS.md; backend/CLAUDE.md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Internal repository: docs/superpowers/specs; frontend/AGENTS.md; backend/CLAUDE.md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Internal repository: AGENTS.md; backend/CLAUDE.md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repository: 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6dfe4d7a0d498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80f66da1ca4c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8f38e0eb554d3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b4616b04484be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c4129086be4b6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7e6fc47c154c9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4f5df987f94f6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84404212ef4c3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75b05dc6ac47ae" /><Relationship Type="http://schemas.openxmlformats.org/officeDocument/2006/relationships/image" Target="/ppt/media/image.png" Id="Rab5d9c4b090e450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ed5519b3f645f5" /><Relationship Type="http://schemas.openxmlformats.org/officeDocument/2006/relationships/image" Target="/ppt/media/image2.png" Id="R19ac21c4dafe4710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accent1"/>
                </a:solidFill>
                <a:latin typeface="Inter SemiBold"/>
                <a:ea typeface="Inter SemiBold"/>
                <a:cs typeface="Inter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952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ab5d9c4b090e450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19ac21c4dafe471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739399fd854b54" /><Relationship Type="http://schemas.openxmlformats.org/officeDocument/2006/relationships/slideLayout" Target="/ppt/slideLayouts/slideLayout1.xml" Id="Rc6ad8c5acae34023" /><Relationship Type="http://schemas.openxmlformats.org/officeDocument/2006/relationships/slideLayout" Target="/ppt/slideLayouts/slideLayout2.xml" Id="R71ae606775d047c2" /><Relationship Type="http://schemas.openxmlformats.org/officeDocument/2006/relationships/slideLayout" Target="/ppt/slideLayouts/slideLayout3.xml" Id="R7d6966a7529c4501" /><Relationship Type="http://schemas.openxmlformats.org/officeDocument/2006/relationships/slideLayout" Target="/ppt/slideLayouts/slideLayout4.xml" Id="R7a7ab2e60fd4489f" /><Relationship Type="http://schemas.openxmlformats.org/officeDocument/2006/relationships/slideLayout" Target="/ppt/slideLayouts/slideLayout5.xml" Id="R5aa4f45626da4b63" /><Relationship Type="http://schemas.openxmlformats.org/officeDocument/2006/relationships/slideLayout" Target="/ppt/slideLayouts/slideLayout6.xml" Id="R126b6feddd424945" /><Relationship Type="http://schemas.openxmlformats.org/officeDocument/2006/relationships/slideLayout" Target="/ppt/slideLayouts/slideLayout7.xml" Id="R4ac142dfc5604ec3" /><Relationship Type="http://schemas.openxmlformats.org/officeDocument/2006/relationships/slideLayout" Target="/ppt/slideLayouts/slideLayout8.xml" Id="R05db8e0bcc41493b" /><Relationship Type="http://schemas.openxmlformats.org/officeDocument/2006/relationships/slideLayout" Target="/ppt/slideLayouts/slideLayout9.xml" Id="Ree3ff42feeb547f3" /><Relationship Type="http://schemas.openxmlformats.org/officeDocument/2006/relationships/slideLayout" Target="/ppt/slideLayouts/slideLayout10.xml" Id="R9dcf752cd63742a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ad8c5acae34023"/>
    <p:sldLayoutId xmlns:r="http://schemas.openxmlformats.org/officeDocument/2006/relationships" id="2147483650" r:id="R71ae606775d047c2"/>
    <p:sldLayoutId xmlns:r="http://schemas.openxmlformats.org/officeDocument/2006/relationships" id="2147483651" r:id="R7d6966a7529c4501"/>
    <p:sldLayoutId xmlns:r="http://schemas.openxmlformats.org/officeDocument/2006/relationships" id="2147483652" r:id="R7a7ab2e60fd4489f"/>
    <p:sldLayoutId xmlns:r="http://schemas.openxmlformats.org/officeDocument/2006/relationships" id="2147483653" r:id="R5aa4f45626da4b63"/>
    <p:sldLayoutId xmlns:r="http://schemas.openxmlformats.org/officeDocument/2006/relationships" id="2147483654" r:id="R126b6feddd424945"/>
    <p:sldLayoutId xmlns:r="http://schemas.openxmlformats.org/officeDocument/2006/relationships" id="2147483655" r:id="R4ac142dfc5604ec3"/>
    <p:sldLayoutId xmlns:r="http://schemas.openxmlformats.org/officeDocument/2006/relationships" id="2147483656" r:id="R05db8e0bcc41493b"/>
    <p:sldLayoutId xmlns:r="http://schemas.openxmlformats.org/officeDocument/2006/relationships" id="2147483657" r:id="Ree3ff42feeb547f3"/>
    <p:sldLayoutId xmlns:r="http://schemas.openxmlformats.org/officeDocument/2006/relationships" id="2147483658" r:id="R9dcf752cd63742a3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67c67236c40da" /><Relationship Type="http://schemas.openxmlformats.org/officeDocument/2006/relationships/image" Target="/ppt/media/image3.png" Id="R1d1c6ce5db574b1b" /><Relationship Type="http://schemas.openxmlformats.org/officeDocument/2006/relationships/notesSlide" Target="/ppt/notesSlides/notesSlide1.xml" Id="Re68fed83ff8d4f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b6e6313696439b" /><Relationship Type="http://schemas.openxmlformats.org/officeDocument/2006/relationships/notesSlide" Target="/ppt/notesSlides/notesSlide2.xml" Id="R06e76c715b104c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b22eeb3acd4a10" /><Relationship Type="http://schemas.openxmlformats.org/officeDocument/2006/relationships/notesSlide" Target="/ppt/notesSlides/notesSlide3.xml" Id="R29a7aa179db14c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74314c8f4346a0" /><Relationship Type="http://schemas.openxmlformats.org/officeDocument/2006/relationships/notesSlide" Target="/ppt/notesSlides/notesSlide4.xml" Id="R70081172dcfb48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15aa9f495f048e4" /><Relationship Type="http://schemas.openxmlformats.org/officeDocument/2006/relationships/notesSlide" Target="/ppt/notesSlides/notesSlide5.xml" Id="R27e34339d91442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e0b0a0d492e46ad" /><Relationship Type="http://schemas.openxmlformats.org/officeDocument/2006/relationships/notesSlide" Target="/ppt/notesSlides/notesSlide6.xml" Id="Rfd6929c3b1464e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7e06dadda94d02" /><Relationship Type="http://schemas.openxmlformats.org/officeDocument/2006/relationships/notesSlide" Target="/ppt/notesSlides/notesSlide7.xml" Id="Refb5bf5e07d84b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98b7a9fe0a54e12" /><Relationship Type="http://schemas.openxmlformats.org/officeDocument/2006/relationships/notesSlide" Target="/ppt/notesSlides/notesSlide8.xml" Id="Re547a4c8156a41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36b5614954ecd" /><Relationship Type="http://schemas.openxmlformats.org/officeDocument/2006/relationships/image" Target="/ppt/media/image3.png" Id="R8ea8326da4684806" /><Relationship Type="http://schemas.openxmlformats.org/officeDocument/2006/relationships/notesSlide" Target="/ppt/notesSlides/notesSlide9.xml" Id="R3639d32bbeeb4b9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4324DD7-B2A7-C70F-0160-11F227D46A0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26339" y="449662"/>
            <a:ext cx="6730425" cy="2401447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r>
              <a:rPr sz="7200">
                <a:solidFill>
                  <a:schemeClr val="accent6">
                    <a:lumMod val="75000"/>
                  </a:schemeClr>
                </a:solidFill>
              </a:rPr>
              <a:t>WebGIS 全栈平台</a:t>
            </a:r>
          </a:p>
          <a:p xmlns:a="http://schemas.openxmlformats.org/drawingml/2006/main">
            <a:r>
              <a:rPr sz="7200">
                <a:solidFill>
                  <a:schemeClr val="accent6">
                    <a:lumMod val="75000"/>
                  </a:schemeClr>
                </a:solidFill>
              </a:rPr>
              <a:t>项目演示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43501A55-18E1-9822-7454-1E3D85380D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2669" y="3564938"/>
            <a:ext cx="3758374" cy="6146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/>
              <a:t>空间数据可视化 · 业务管理 · 时空分析</a:t>
            </a:r>
          </a:p>
          <a:p xmlns:a="http://schemas.openxmlformats.org/drawingml/2006/main">
            <a:r>
              <a:rPr sz="1800"/>
              <a:t>项目协作概览</a:t>
            </a:r>
          </a:p>
        </p:txBody>
      </p:sp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c6ce5db574b1b"/>
          <a:srcRect xmlns:a="http://schemas.openxmlformats.org/drawingml/2006/main" l="0" t="25645" r="0" b="61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63386"/>
            <a:ext cx="12190542" cy="20946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961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883398"/>
            <a:ext cx="7835900" cy="63515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本次项目对齐</a:t>
            </a:r>
          </a:p>
        </p:txBody>
      </p:sp>
      <p:graphicFrame>
        <p:nvGraphicFramePr>
          <p:cNvPr id="9" name="Table 3"/>
          <p:cNvGraphicFramePr/>
          <p:nvPr/>
        </p:nvGraphicFramePr>
        <p:xfrm>
          <a:off xmlns:a="http://schemas.openxmlformats.org/drawingml/2006/main" x="393700" y="1689098"/>
          <a:ext xmlns:a="http://schemas.openxmlformats.org/drawingml/2006/main" cx="11404600" cy="43053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509"/>
                <a:gridCol w="10526091"/>
              </a:tblGrid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项目定位与目标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总体架构与空间数据链路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前后端技术栈与开发基础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当前能力与学习模块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下一阶段协作重点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需要共同确认的事项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8774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69FA6D2-2D50-9DC8-E5DD-C4C1EAE88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7B2D062-27A4-4C85-912F-42FC88B4DB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36691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800"/>
              <a:t>一个统一的平台，把二维与三维地图、空间服务和业务管理连接到同一条可演进的数据链路中。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D116A3-5F26-E766-2FA6-F7F59839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26000"/>
            <a:ext cx="3568700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Inter"/>
                <a:ea typeface="Inter"/>
                <a:cs typeface="Inter"/>
              </a:rPr>
              <a:t>空间能力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Inter"/>
                <a:ea typeface="Inter"/>
                <a:cs typeface="Inter"/>
              </a:rPr>
              <a:t>PostGIS 作为空间数据底座，GeoServer 统一发布服务。</a:t>
            </a:r>
          </a:p>
        </p:txBody>
      </p:sp>
      <p:sp>
        <p:nvSpPr>
          <p:cNvPr id="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7F79475-D2E6-1673-5BE0-6CAB7E3D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6000"/>
            <a:ext cx="3568700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业务能力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REST API、JWT 与管理模块支撑可控的业务协作。</a:t>
            </a:r>
          </a:p>
        </p:txBody>
      </p:sp>
      <p:sp>
        <p:nvSpPr>
          <p:cNvPr id="8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E99A300F-A62D-2D4C-A8CC-7A2B40C7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56100"/>
            <a:ext cx="257187" cy="257089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5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9715BEEB-6A24-7E57-79F9-6DC76158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158" y="4356100"/>
            <a:ext cx="257187" cy="257089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5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47352099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技术栈围绕空间服务与现代 Web 体验构建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7317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二维地图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OpenLayers 10.9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图层、编辑与空间交互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7317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前端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Vue 3 · TypeScript · Vite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Pinia · Element Plus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7317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服务与数据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Spring Boot · GeoServer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PostgreSQL · PostGIS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7317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三维地图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CesiumJS 1.142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自托管 3D 场景与数据加载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前端、后端、空间服务与数据存储各司其职，并通过统一 REST 接口衔接。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关键兼容原则：Spring Boot 3.5 与 GeoTools 35 均基于 Jakarta EE。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115B2E1-B583-AF0F-E5A0-E31A89A70FE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5BBDF9FE-11B3-D661-6C73-AEF8F8362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11838" cy="5195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总体架构：从交互界面到空间数据服务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1D80037-C168-FBF2-B54D-589D4849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0E7C2EE-1AC5-1253-8D6A-BFE2CCAB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F07ABEF-E57C-A069-52DA-DAB3B410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CD9BC49D-3C96-EBE3-CDD9-750D79584B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000" b="0" i="0" u="none" cap="none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体验层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Vue 3 页面、OpenLayers 二维地图与 Cesium 三维场景。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721E237-CC1B-11C2-06F2-0FF62F5271D5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业务层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Spring Boot 模块化服务、JWT 认证、统一响应体与 REST API。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34BFB1-1732-6AA8-499C-16BCB107B446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空间层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PostGIS 存储，GeoServer 发布 WMS/WFS，支撑空间分析。</a:t>
            </a:r>
          </a:p>
        </p:txBody>
      </p:sp>
      <p:sp>
        <p:nvSpPr>
          <p:cNvPr id="2" name="Google Shape;303;p29">
            <a:extLst xmlns:a="http://schemas.openxmlformats.org/drawingml/2006/main">
              <a:ext uri="{FF2B5EF4-FFF2-40B4-BE49-F238E27FC236}">
                <a16:creationId xmlns:a16="http://schemas.microsoft.com/office/drawing/2014/main" id="{5A63C565-27C7-B453-570C-D6DDD0BF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58" y="2759697"/>
            <a:ext cx="230437" cy="256014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</a:p>
        </p:txBody>
      </p:sp>
      <p:sp>
        <p:nvSpPr>
          <p:cNvPr id="12" name="Google Shape;304;p29">
            <a:extLst xmlns:a="http://schemas.openxmlformats.org/drawingml/2006/main">
              <a:ext uri="{FF2B5EF4-FFF2-40B4-BE49-F238E27FC236}">
                <a16:creationId xmlns:a16="http://schemas.microsoft.com/office/drawing/2014/main" id="{2E71F363-4565-783C-7D45-A77673EF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459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  <a:moveTo>
                  <a:pt x="10800" y="2160"/>
                </a:moveTo>
                <a:cubicBezTo>
                  <a:pt x="15572" y="2160"/>
                  <a:pt x="19440" y="6028"/>
                  <a:pt x="19440" y="10800"/>
                </a:cubicBezTo>
                <a:cubicBezTo>
                  <a:pt x="19440" y="15572"/>
                  <a:pt x="15572" y="19440"/>
                  <a:pt x="10800" y="19440"/>
                </a:cubicBezTo>
                <a:cubicBezTo>
                  <a:pt x="6028" y="19440"/>
                  <a:pt x="2160" y="15572"/>
                  <a:pt x="2160" y="10800"/>
                </a:cubicBezTo>
                <a:cubicBezTo>
                  <a:pt x="2160" y="6028"/>
                  <a:pt x="6028" y="2160"/>
                  <a:pt x="10800" y="2160"/>
                </a:cubicBezTo>
                <a:close/>
                <a:moveTo>
                  <a:pt x="6649" y="12960"/>
                </a:moveTo>
                <a:cubicBezTo>
                  <a:pt x="6375" y="12921"/>
                  <a:pt x="6077" y="12983"/>
                  <a:pt x="5839" y="13162"/>
                </a:cubicBezTo>
                <a:cubicBezTo>
                  <a:pt x="5362" y="13521"/>
                  <a:pt x="5278" y="14204"/>
                  <a:pt x="5636" y="14681"/>
                </a:cubicBezTo>
                <a:cubicBezTo>
                  <a:pt x="8197" y="18089"/>
                  <a:pt x="13437" y="18089"/>
                  <a:pt x="15997" y="14681"/>
                </a:cubicBezTo>
                <a:cubicBezTo>
                  <a:pt x="16356" y="14204"/>
                  <a:pt x="16272" y="13521"/>
                  <a:pt x="15795" y="13162"/>
                </a:cubicBezTo>
                <a:cubicBezTo>
                  <a:pt x="15318" y="12804"/>
                  <a:pt x="14635" y="12888"/>
                  <a:pt x="14276" y="13365"/>
                </a:cubicBezTo>
                <a:cubicBezTo>
                  <a:pt x="12580" y="15623"/>
                  <a:pt x="9054" y="15623"/>
                  <a:pt x="7357" y="13365"/>
                </a:cubicBezTo>
                <a:cubicBezTo>
                  <a:pt x="7178" y="13127"/>
                  <a:pt x="6922" y="12999"/>
                  <a:pt x="6649" y="129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</a:p>
        </p:txBody>
      </p:sp>
      <p:sp>
        <p:nvSpPr>
          <p:cNvPr id="13" name="Google Shape;305;p29">
            <a:extLst xmlns:a="http://schemas.openxmlformats.org/drawingml/2006/main">
              <a:ext uri="{FF2B5EF4-FFF2-40B4-BE49-F238E27FC236}">
                <a16:creationId xmlns:a16="http://schemas.microsoft.com/office/drawing/2014/main" id="{5B7D18E2-4EB1-E52F-2BE9-AE2714DA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08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784" y="2163"/>
                </a:moveTo>
                <a:cubicBezTo>
                  <a:pt x="10772" y="2167"/>
                  <a:pt x="10749" y="2175"/>
                  <a:pt x="10715" y="2196"/>
                </a:cubicBezTo>
                <a:cubicBezTo>
                  <a:pt x="10574" y="2281"/>
                  <a:pt x="10340" y="2510"/>
                  <a:pt x="10071" y="2999"/>
                </a:cubicBezTo>
                <a:cubicBezTo>
                  <a:pt x="9811" y="3472"/>
                  <a:pt x="9560" y="4109"/>
                  <a:pt x="9344" y="4895"/>
                </a:cubicBezTo>
                <a:cubicBezTo>
                  <a:pt x="8980" y="6213"/>
                  <a:pt x="8731" y="7875"/>
                  <a:pt x="8661" y="9720"/>
                </a:cubicBezTo>
                <a:lnTo>
                  <a:pt x="12939" y="9720"/>
                </a:lnTo>
                <a:cubicBezTo>
                  <a:pt x="12869" y="7875"/>
                  <a:pt x="12620" y="6213"/>
                  <a:pt x="12256" y="4895"/>
                </a:cubicBezTo>
                <a:cubicBezTo>
                  <a:pt x="12040" y="4109"/>
                  <a:pt x="11789" y="3472"/>
                  <a:pt x="11529" y="2999"/>
                </a:cubicBezTo>
                <a:cubicBezTo>
                  <a:pt x="11260" y="2510"/>
                  <a:pt x="11026" y="2281"/>
                  <a:pt x="10885" y="2196"/>
                </a:cubicBezTo>
                <a:cubicBezTo>
                  <a:pt x="10851" y="2175"/>
                  <a:pt x="10828" y="2167"/>
                  <a:pt x="10816" y="2163"/>
                </a:cubicBezTo>
                <a:cubicBezTo>
                  <a:pt x="10807" y="2161"/>
                  <a:pt x="10801" y="2160"/>
                  <a:pt x="10800" y="2160"/>
                </a:cubicBezTo>
                <a:cubicBezTo>
                  <a:pt x="10798" y="2160"/>
                  <a:pt x="10793" y="2161"/>
                  <a:pt x="10784" y="2163"/>
                </a:cubicBezTo>
                <a:close/>
                <a:moveTo>
                  <a:pt x="6499" y="9720"/>
                </a:moveTo>
                <a:cubicBezTo>
                  <a:pt x="6571" y="7704"/>
                  <a:pt x="6841" y="5845"/>
                  <a:pt x="7261" y="4321"/>
                </a:cubicBezTo>
                <a:cubicBezTo>
                  <a:pt x="7424" y="3732"/>
                  <a:pt x="7611" y="3182"/>
                  <a:pt x="7825" y="2686"/>
                </a:cubicBezTo>
                <a:cubicBezTo>
                  <a:pt x="4843" y="3779"/>
                  <a:pt x="2632" y="6469"/>
                  <a:pt x="2227" y="9720"/>
                </a:cubicBezTo>
                <a:lnTo>
                  <a:pt x="6499" y="9720"/>
                </a:lnTo>
                <a:close/>
                <a:moveTo>
                  <a:pt x="2227" y="11880"/>
                </a:moveTo>
                <a:lnTo>
                  <a:pt x="6499" y="11880"/>
                </a:lnTo>
                <a:cubicBezTo>
                  <a:pt x="6582" y="14228"/>
                  <a:pt x="6936" y="16368"/>
                  <a:pt x="7484" y="18014"/>
                </a:cubicBezTo>
                <a:cubicBezTo>
                  <a:pt x="7589" y="18327"/>
                  <a:pt x="7702" y="18628"/>
                  <a:pt x="7825" y="18914"/>
                </a:cubicBezTo>
                <a:cubicBezTo>
                  <a:pt x="4843" y="17821"/>
                  <a:pt x="2632" y="15131"/>
                  <a:pt x="2227" y="11880"/>
                </a:cubicBezTo>
                <a:close/>
                <a:moveTo>
                  <a:pt x="8661" y="11880"/>
                </a:moveTo>
                <a:cubicBezTo>
                  <a:pt x="8743" y="14037"/>
                  <a:pt x="9069" y="15938"/>
                  <a:pt x="9534" y="17332"/>
                </a:cubicBezTo>
                <a:cubicBezTo>
                  <a:pt x="9806" y="18148"/>
                  <a:pt x="10106" y="18732"/>
                  <a:pt x="10387" y="19088"/>
                </a:cubicBezTo>
                <a:cubicBezTo>
                  <a:pt x="10525" y="19263"/>
                  <a:pt x="10637" y="19356"/>
                  <a:pt x="10712" y="19402"/>
                </a:cubicBezTo>
                <a:cubicBezTo>
                  <a:pt x="10748" y="19424"/>
                  <a:pt x="10771" y="19434"/>
                  <a:pt x="10783" y="19437"/>
                </a:cubicBezTo>
                <a:cubicBezTo>
                  <a:pt x="10794" y="19440"/>
                  <a:pt x="10800" y="19440"/>
                  <a:pt x="10800" y="19440"/>
                </a:cubicBezTo>
                <a:cubicBezTo>
                  <a:pt x="10800" y="19440"/>
                  <a:pt x="10805" y="19440"/>
                  <a:pt x="10817" y="19437"/>
                </a:cubicBezTo>
                <a:cubicBezTo>
                  <a:pt x="10829" y="19434"/>
                  <a:pt x="10852" y="19424"/>
                  <a:pt x="10888" y="19402"/>
                </a:cubicBezTo>
                <a:cubicBezTo>
                  <a:pt x="10963" y="19356"/>
                  <a:pt x="11075" y="19263"/>
                  <a:pt x="11213" y="19088"/>
                </a:cubicBezTo>
                <a:cubicBezTo>
                  <a:pt x="11494" y="18732"/>
                  <a:pt x="11794" y="18148"/>
                  <a:pt x="12066" y="17332"/>
                </a:cubicBezTo>
                <a:cubicBezTo>
                  <a:pt x="12531" y="15938"/>
                  <a:pt x="12857" y="14037"/>
                  <a:pt x="12939" y="11880"/>
                </a:cubicBezTo>
                <a:lnTo>
                  <a:pt x="8661" y="11880"/>
                </a:lnTo>
                <a:close/>
                <a:moveTo>
                  <a:pt x="15101" y="11880"/>
                </a:moveTo>
                <a:cubicBezTo>
                  <a:pt x="15018" y="14228"/>
                  <a:pt x="14664" y="16368"/>
                  <a:pt x="14116" y="18014"/>
                </a:cubicBezTo>
                <a:cubicBezTo>
                  <a:pt x="14011" y="18327"/>
                  <a:pt x="13898" y="18628"/>
                  <a:pt x="13775" y="18914"/>
                </a:cubicBezTo>
                <a:cubicBezTo>
                  <a:pt x="16757" y="17821"/>
                  <a:pt x="18968" y="15131"/>
                  <a:pt x="19373" y="11880"/>
                </a:cubicBezTo>
                <a:lnTo>
                  <a:pt x="15101" y="11880"/>
                </a:lnTo>
                <a:close/>
                <a:moveTo>
                  <a:pt x="19373" y="9720"/>
                </a:moveTo>
                <a:cubicBezTo>
                  <a:pt x="18968" y="6469"/>
                  <a:pt x="16757" y="3779"/>
                  <a:pt x="13775" y="2686"/>
                </a:cubicBezTo>
                <a:cubicBezTo>
                  <a:pt x="13989" y="3182"/>
                  <a:pt x="14176" y="3732"/>
                  <a:pt x="14339" y="4321"/>
                </a:cubicBezTo>
                <a:cubicBezTo>
                  <a:pt x="14759" y="5845"/>
                  <a:pt x="15029" y="7704"/>
                  <a:pt x="15101" y="9720"/>
                </a:cubicBezTo>
                <a:lnTo>
                  <a:pt x="19373" y="97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7B27847-7526-0A76-DFBA-302A5A76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37594"/>
            <a:ext cx="11404599" cy="10474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分层结构降低前端交互、业务规则与空间服务之间的耦合，支持按模块持续演进。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7563682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115B2E1-B583-AF0F-E5A0-E31A89A70FE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5BBDF9FE-11B3-D661-6C73-AEF8F8362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11838" cy="5195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当前学习与能力建设覆盖完整的 GIS 工作流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1D80037-C168-FBF2-B54D-589D4849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0E7C2EE-1AC5-1253-8D6A-BFE2CCAB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F07ABEF-E57C-A069-52DA-DAB3B410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CD9BC49D-3C96-EBE3-CDD9-750D79584B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000" b="0" i="0" u="none" cap="none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地图交互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底图切换、图层控制、数据加载、绘制与编辑等 OpenLayers 实践。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721E237-CC1B-11C2-06F2-0FF62F5271D5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空间服务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工作区、数据源、图层、样式与 WFS CRUD 的 GeoServer 管理。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34BFB1-1732-6AA8-499C-16BCB107B446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三维探索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Cesium 坐标、事件、实体、3D Tiles、地形与动态轨迹等专题模块。</a:t>
            </a:r>
          </a:p>
        </p:txBody>
      </p:sp>
      <p:sp>
        <p:nvSpPr>
          <p:cNvPr id="2" name="Google Shape;303;p29">
            <a:extLst xmlns:a="http://schemas.openxmlformats.org/drawingml/2006/main">
              <a:ext uri="{FF2B5EF4-FFF2-40B4-BE49-F238E27FC236}">
                <a16:creationId xmlns:a16="http://schemas.microsoft.com/office/drawing/2014/main" id="{5A63C565-27C7-B453-570C-D6DDD0BF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58" y="2759697"/>
            <a:ext cx="230437" cy="256014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</a:p>
        </p:txBody>
      </p:sp>
      <p:sp>
        <p:nvSpPr>
          <p:cNvPr id="12" name="Google Shape;304;p29">
            <a:extLst xmlns:a="http://schemas.openxmlformats.org/drawingml/2006/main">
              <a:ext uri="{FF2B5EF4-FFF2-40B4-BE49-F238E27FC236}">
                <a16:creationId xmlns:a16="http://schemas.microsoft.com/office/drawing/2014/main" id="{2E71F363-4565-783C-7D45-A77673EF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459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  <a:moveTo>
                  <a:pt x="10800" y="2160"/>
                </a:moveTo>
                <a:cubicBezTo>
                  <a:pt x="15572" y="2160"/>
                  <a:pt x="19440" y="6028"/>
                  <a:pt x="19440" y="10800"/>
                </a:cubicBezTo>
                <a:cubicBezTo>
                  <a:pt x="19440" y="15572"/>
                  <a:pt x="15572" y="19440"/>
                  <a:pt x="10800" y="19440"/>
                </a:cubicBezTo>
                <a:cubicBezTo>
                  <a:pt x="6028" y="19440"/>
                  <a:pt x="2160" y="15572"/>
                  <a:pt x="2160" y="10800"/>
                </a:cubicBezTo>
                <a:cubicBezTo>
                  <a:pt x="2160" y="6028"/>
                  <a:pt x="6028" y="2160"/>
                  <a:pt x="10800" y="2160"/>
                </a:cubicBezTo>
                <a:close/>
                <a:moveTo>
                  <a:pt x="6649" y="12960"/>
                </a:moveTo>
                <a:cubicBezTo>
                  <a:pt x="6375" y="12921"/>
                  <a:pt x="6077" y="12983"/>
                  <a:pt x="5839" y="13162"/>
                </a:cubicBezTo>
                <a:cubicBezTo>
                  <a:pt x="5362" y="13521"/>
                  <a:pt x="5278" y="14204"/>
                  <a:pt x="5636" y="14681"/>
                </a:cubicBezTo>
                <a:cubicBezTo>
                  <a:pt x="8197" y="18089"/>
                  <a:pt x="13437" y="18089"/>
                  <a:pt x="15997" y="14681"/>
                </a:cubicBezTo>
                <a:cubicBezTo>
                  <a:pt x="16356" y="14204"/>
                  <a:pt x="16272" y="13521"/>
                  <a:pt x="15795" y="13162"/>
                </a:cubicBezTo>
                <a:cubicBezTo>
                  <a:pt x="15318" y="12804"/>
                  <a:pt x="14635" y="12888"/>
                  <a:pt x="14276" y="13365"/>
                </a:cubicBezTo>
                <a:cubicBezTo>
                  <a:pt x="12580" y="15623"/>
                  <a:pt x="9054" y="15623"/>
                  <a:pt x="7357" y="13365"/>
                </a:cubicBezTo>
                <a:cubicBezTo>
                  <a:pt x="7178" y="13127"/>
                  <a:pt x="6922" y="12999"/>
                  <a:pt x="6649" y="129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</a:p>
        </p:txBody>
      </p:sp>
      <p:sp>
        <p:nvSpPr>
          <p:cNvPr id="13" name="Google Shape;305;p29">
            <a:extLst xmlns:a="http://schemas.openxmlformats.org/drawingml/2006/main">
              <a:ext uri="{FF2B5EF4-FFF2-40B4-BE49-F238E27FC236}">
                <a16:creationId xmlns:a16="http://schemas.microsoft.com/office/drawing/2014/main" id="{5B7D18E2-4EB1-E52F-2BE9-AE2714DA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08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784" y="2163"/>
                </a:moveTo>
                <a:cubicBezTo>
                  <a:pt x="10772" y="2167"/>
                  <a:pt x="10749" y="2175"/>
                  <a:pt x="10715" y="2196"/>
                </a:cubicBezTo>
                <a:cubicBezTo>
                  <a:pt x="10574" y="2281"/>
                  <a:pt x="10340" y="2510"/>
                  <a:pt x="10071" y="2999"/>
                </a:cubicBezTo>
                <a:cubicBezTo>
                  <a:pt x="9811" y="3472"/>
                  <a:pt x="9560" y="4109"/>
                  <a:pt x="9344" y="4895"/>
                </a:cubicBezTo>
                <a:cubicBezTo>
                  <a:pt x="8980" y="6213"/>
                  <a:pt x="8731" y="7875"/>
                  <a:pt x="8661" y="9720"/>
                </a:cubicBezTo>
                <a:lnTo>
                  <a:pt x="12939" y="9720"/>
                </a:lnTo>
                <a:cubicBezTo>
                  <a:pt x="12869" y="7875"/>
                  <a:pt x="12620" y="6213"/>
                  <a:pt x="12256" y="4895"/>
                </a:cubicBezTo>
                <a:cubicBezTo>
                  <a:pt x="12040" y="4109"/>
                  <a:pt x="11789" y="3472"/>
                  <a:pt x="11529" y="2999"/>
                </a:cubicBezTo>
                <a:cubicBezTo>
                  <a:pt x="11260" y="2510"/>
                  <a:pt x="11026" y="2281"/>
                  <a:pt x="10885" y="2196"/>
                </a:cubicBezTo>
                <a:cubicBezTo>
                  <a:pt x="10851" y="2175"/>
                  <a:pt x="10828" y="2167"/>
                  <a:pt x="10816" y="2163"/>
                </a:cubicBezTo>
                <a:cubicBezTo>
                  <a:pt x="10807" y="2161"/>
                  <a:pt x="10801" y="2160"/>
                  <a:pt x="10800" y="2160"/>
                </a:cubicBezTo>
                <a:cubicBezTo>
                  <a:pt x="10798" y="2160"/>
                  <a:pt x="10793" y="2161"/>
                  <a:pt x="10784" y="2163"/>
                </a:cubicBezTo>
                <a:close/>
                <a:moveTo>
                  <a:pt x="6499" y="9720"/>
                </a:moveTo>
                <a:cubicBezTo>
                  <a:pt x="6571" y="7704"/>
                  <a:pt x="6841" y="5845"/>
                  <a:pt x="7261" y="4321"/>
                </a:cubicBezTo>
                <a:cubicBezTo>
                  <a:pt x="7424" y="3732"/>
                  <a:pt x="7611" y="3182"/>
                  <a:pt x="7825" y="2686"/>
                </a:cubicBezTo>
                <a:cubicBezTo>
                  <a:pt x="4843" y="3779"/>
                  <a:pt x="2632" y="6469"/>
                  <a:pt x="2227" y="9720"/>
                </a:cubicBezTo>
                <a:lnTo>
                  <a:pt x="6499" y="9720"/>
                </a:lnTo>
                <a:close/>
                <a:moveTo>
                  <a:pt x="2227" y="11880"/>
                </a:moveTo>
                <a:lnTo>
                  <a:pt x="6499" y="11880"/>
                </a:lnTo>
                <a:cubicBezTo>
                  <a:pt x="6582" y="14228"/>
                  <a:pt x="6936" y="16368"/>
                  <a:pt x="7484" y="18014"/>
                </a:cubicBezTo>
                <a:cubicBezTo>
                  <a:pt x="7589" y="18327"/>
                  <a:pt x="7702" y="18628"/>
                  <a:pt x="7825" y="18914"/>
                </a:cubicBezTo>
                <a:cubicBezTo>
                  <a:pt x="4843" y="17821"/>
                  <a:pt x="2632" y="15131"/>
                  <a:pt x="2227" y="11880"/>
                </a:cubicBezTo>
                <a:close/>
                <a:moveTo>
                  <a:pt x="8661" y="11880"/>
                </a:moveTo>
                <a:cubicBezTo>
                  <a:pt x="8743" y="14037"/>
                  <a:pt x="9069" y="15938"/>
                  <a:pt x="9534" y="17332"/>
                </a:cubicBezTo>
                <a:cubicBezTo>
                  <a:pt x="9806" y="18148"/>
                  <a:pt x="10106" y="18732"/>
                  <a:pt x="10387" y="19088"/>
                </a:cubicBezTo>
                <a:cubicBezTo>
                  <a:pt x="10525" y="19263"/>
                  <a:pt x="10637" y="19356"/>
                  <a:pt x="10712" y="19402"/>
                </a:cubicBezTo>
                <a:cubicBezTo>
                  <a:pt x="10748" y="19424"/>
                  <a:pt x="10771" y="19434"/>
                  <a:pt x="10783" y="19437"/>
                </a:cubicBezTo>
                <a:cubicBezTo>
                  <a:pt x="10794" y="19440"/>
                  <a:pt x="10800" y="19440"/>
                  <a:pt x="10800" y="19440"/>
                </a:cubicBezTo>
                <a:cubicBezTo>
                  <a:pt x="10800" y="19440"/>
                  <a:pt x="10805" y="19440"/>
                  <a:pt x="10817" y="19437"/>
                </a:cubicBezTo>
                <a:cubicBezTo>
                  <a:pt x="10829" y="19434"/>
                  <a:pt x="10852" y="19424"/>
                  <a:pt x="10888" y="19402"/>
                </a:cubicBezTo>
                <a:cubicBezTo>
                  <a:pt x="10963" y="19356"/>
                  <a:pt x="11075" y="19263"/>
                  <a:pt x="11213" y="19088"/>
                </a:cubicBezTo>
                <a:cubicBezTo>
                  <a:pt x="11494" y="18732"/>
                  <a:pt x="11794" y="18148"/>
                  <a:pt x="12066" y="17332"/>
                </a:cubicBezTo>
                <a:cubicBezTo>
                  <a:pt x="12531" y="15938"/>
                  <a:pt x="12857" y="14037"/>
                  <a:pt x="12939" y="11880"/>
                </a:cubicBezTo>
                <a:lnTo>
                  <a:pt x="8661" y="11880"/>
                </a:lnTo>
                <a:close/>
                <a:moveTo>
                  <a:pt x="15101" y="11880"/>
                </a:moveTo>
                <a:cubicBezTo>
                  <a:pt x="15018" y="14228"/>
                  <a:pt x="14664" y="16368"/>
                  <a:pt x="14116" y="18014"/>
                </a:cubicBezTo>
                <a:cubicBezTo>
                  <a:pt x="14011" y="18327"/>
                  <a:pt x="13898" y="18628"/>
                  <a:pt x="13775" y="18914"/>
                </a:cubicBezTo>
                <a:cubicBezTo>
                  <a:pt x="16757" y="17821"/>
                  <a:pt x="18968" y="15131"/>
                  <a:pt x="19373" y="11880"/>
                </a:cubicBezTo>
                <a:lnTo>
                  <a:pt x="15101" y="11880"/>
                </a:lnTo>
                <a:close/>
                <a:moveTo>
                  <a:pt x="19373" y="9720"/>
                </a:moveTo>
                <a:cubicBezTo>
                  <a:pt x="18968" y="6469"/>
                  <a:pt x="16757" y="3779"/>
                  <a:pt x="13775" y="2686"/>
                </a:cubicBezTo>
                <a:cubicBezTo>
                  <a:pt x="13989" y="3182"/>
                  <a:pt x="14176" y="3732"/>
                  <a:pt x="14339" y="4321"/>
                </a:cubicBezTo>
                <a:cubicBezTo>
                  <a:pt x="14759" y="5845"/>
                  <a:pt x="15029" y="7704"/>
                  <a:pt x="15101" y="9720"/>
                </a:cubicBezTo>
                <a:lnTo>
                  <a:pt x="19373" y="97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7B27847-7526-0A76-DFBA-302A5A76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37594"/>
            <a:ext cx="11404599" cy="10474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从前端可视化到空间分析，再到 GeoServer 管理接口，能力建设围绕可复用、可验证的端到端场景展开。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7563682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9EE8A1CA-4617-FF10-E8D0-B582B7F48A8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8499D35-F61B-DF1C-10A6-EA04E8D006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下一阶段：沿着端到端闭环推进</a:t>
            </a:r>
          </a:p>
        </p:txBody>
      </p:sp>
      <p:graphicFrame>
        <p:nvGraphicFramePr>
          <p:cNvPr id="537" name="Google Shape;953;p80"/>
          <p:cNvGraphicFramePr/>
          <p:nvPr/>
        </p:nvGraphicFramePr>
        <p:xfrm>
          <a:off xmlns:a="http://schemas.openxmlformats.org/drawingml/2006/main" x="393699" y="1379875"/>
          <a:ext xmlns:a="http://schemas.openxmlformats.org/drawingml/2006/main" cx="11404600" cy="4614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0920"/>
                <a:gridCol w="2280920"/>
                <a:gridCol w="2280920"/>
                <a:gridCol w="2280920"/>
                <a:gridCol w="2280920"/>
              </a:tblGrid>
              <a:tr h="46145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基础</a:t>
                      </a:r>
                    </a:p>
                  </a:txBody>
                  <a:tcPr marL="137150" marR="91425" marT="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空间</a:t>
                      </a:r>
                    </a:p>
                  </a:txBody>
                  <a:tcPr marL="137150" marR="91425" marT="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服务</a:t>
                      </a:r>
                    </a:p>
                  </a:txBody>
                  <a:tcPr marL="137150" marR="91425" marT="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三维</a:t>
                      </a:r>
                    </a:p>
                  </a:txBody>
                  <a:tcPr marL="137150" marR="91425" marT="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闭环</a:t>
                      </a:r>
                    </a:p>
                  </a:txBody>
                  <a:tcPr marL="137150" marR="91425" marT="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Google Shape;955;p80">
            <a:extLst xmlns:a="http://schemas.openxmlformats.org/drawingml/2006/main">
              <a:ext uri="{FF2B5EF4-FFF2-40B4-BE49-F238E27FC236}">
                <a16:creationId xmlns:a16="http://schemas.microsoft.com/office/drawing/2014/main" id="{EA32D89C-6778-2FE2-6D40-ABA6EAAD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718" y="4107740"/>
            <a:ext cx="4562665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latin typeface="Helvetica Neue"/>
                <a:ea typeface="Helvetica Neue"/>
                <a:cs typeface="Helvetica Neue"/>
              </a:rPr>
              <a:t>Cesium</a:t>
            </a:r>
          </a:p>
          <a:p xmlns:a="http://schemas.openxmlformats.org/drawingml/2006/main">
            <a:r>
              <a:rPr sz="1500">
                <a:latin typeface="Helvetica Neue"/>
                <a:ea typeface="Helvetica Neue"/>
                <a:cs typeface="Helvetica Neue"/>
              </a:rPr>
              <a:t>三维专题</a:t>
            </a:r>
          </a:p>
        </p:txBody>
      </p:sp>
      <p:sp>
        <p:nvSpPr>
          <p:cNvPr id="6" name="Google Shape;957;p80">
            <a:extLst xmlns:a="http://schemas.openxmlformats.org/drawingml/2006/main">
              <a:ext uri="{FF2B5EF4-FFF2-40B4-BE49-F238E27FC236}">
                <a16:creationId xmlns:a16="http://schemas.microsoft.com/office/drawing/2014/main" id="{D5359B3A-662D-9283-F7D8-9D5DCD65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93" y="5478390"/>
            <a:ext cx="11026708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latin typeface="Helvetica Neue"/>
                <a:ea typeface="Helvetica Neue"/>
                <a:cs typeface="Helvetica Neue"/>
              </a:rPr>
              <a:t>质量验证与</a:t>
            </a:r>
          </a:p>
          <a:p xmlns:a="http://schemas.openxmlformats.org/drawingml/2006/main">
            <a:r>
              <a:rPr sz="1500">
                <a:latin typeface="Helvetica Neue"/>
                <a:ea typeface="Helvetica Neue"/>
                <a:cs typeface="Helvetica Neue"/>
              </a:rPr>
              <a:t>端到端场景</a:t>
            </a:r>
          </a:p>
        </p:txBody>
      </p:sp>
      <p:sp>
        <p:nvSpPr>
          <p:cNvPr id="7" name="Google Shape;960;p80">
            <a:extLst xmlns:a="http://schemas.openxmlformats.org/drawingml/2006/main">
              <a:ext uri="{FF2B5EF4-FFF2-40B4-BE49-F238E27FC236}">
                <a16:creationId xmlns:a16="http://schemas.microsoft.com/office/drawing/2014/main" id="{2293B6C0-CD6E-C9F0-68F7-73F7B726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794" y="4754965"/>
            <a:ext cx="4088008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latin typeface="Helvetica Neue"/>
                <a:ea typeface="Helvetica Neue"/>
                <a:cs typeface="Helvetica Neue"/>
              </a:rPr>
              <a:t>业务模块</a:t>
            </a:r>
          </a:p>
          <a:p xmlns:a="http://schemas.openxmlformats.org/drawingml/2006/main">
            <a:r>
              <a:rPr sz="1500">
                <a:latin typeface="Helvetica Neue"/>
                <a:ea typeface="Helvetica Neue"/>
                <a:cs typeface="Helvetica Neue"/>
              </a:rPr>
              <a:t>与权限</a:t>
            </a:r>
          </a:p>
        </p:txBody>
      </p:sp>
      <p:sp>
        <p:nvSpPr>
          <p:cNvPr id="8" name="Google Shape;963;p80">
            <a:extLst xmlns:a="http://schemas.openxmlformats.org/drawingml/2006/main">
              <a:ext uri="{FF2B5EF4-FFF2-40B4-BE49-F238E27FC236}">
                <a16:creationId xmlns:a16="http://schemas.microsoft.com/office/drawing/2014/main" id="{0F4F3439-EC29-4518-4A3E-7436F857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68" y="3403140"/>
            <a:ext cx="8790833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latin typeface="Helvetica Neue"/>
                <a:ea typeface="Helvetica Neue"/>
                <a:cs typeface="Helvetica Neue"/>
              </a:rPr>
              <a:t>GeoServer</a:t>
            </a:r>
          </a:p>
          <a:p xmlns:a="http://schemas.openxmlformats.org/drawingml/2006/main">
            <a:r>
              <a:rPr sz="1500">
                <a:latin typeface="Helvetica Neue"/>
                <a:ea typeface="Helvetica Neue"/>
                <a:cs typeface="Helvetica Neue"/>
              </a:rPr>
              <a:t>资源管理</a:t>
            </a:r>
          </a:p>
        </p:txBody>
      </p:sp>
      <p:sp>
        <p:nvSpPr>
          <p:cNvPr id="9" name="Google Shape;966;p80">
            <a:extLst xmlns:a="http://schemas.openxmlformats.org/drawingml/2006/main">
              <a:ext uri="{FF2B5EF4-FFF2-40B4-BE49-F238E27FC236}">
                <a16:creationId xmlns:a16="http://schemas.microsoft.com/office/drawing/2014/main" id="{1D07E5FD-0BEC-93D6-2CF5-BC908A51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68" y="2698515"/>
            <a:ext cx="6408538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latin typeface="Helvetica Neue"/>
                <a:ea typeface="Helvetica Neue"/>
                <a:cs typeface="Helvetica Neue"/>
              </a:rPr>
              <a:t>空间数据</a:t>
            </a:r>
          </a:p>
          <a:p xmlns:a="http://schemas.openxmlformats.org/drawingml/2006/main">
            <a:r>
              <a:rPr sz="1500">
                <a:latin typeface="Helvetica Neue"/>
                <a:ea typeface="Helvetica Neue"/>
                <a:cs typeface="Helvetica Neue"/>
              </a:rPr>
              <a:t>与分析能力</a:t>
            </a:r>
          </a:p>
        </p:txBody>
      </p:sp>
      <p:sp>
        <p:nvSpPr>
          <p:cNvPr id="10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0AB147C5-D3F9-0847-C2A5-2A90154B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93" y="1975090"/>
            <a:ext cx="4185180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latin typeface="Helvetica Neue"/>
                <a:ea typeface="Helvetica Neue"/>
                <a:cs typeface="Helvetica Neue"/>
              </a:rPr>
              <a:t>基础框架</a:t>
            </a:r>
          </a:p>
        </p:txBody>
      </p:sp>
    </p:spTree>
    <p:extLst>
      <p:ext uri="{BB962C8B-B14F-4D97-AF65-F5344CB8AC3E}">
        <p14:creationId xmlns:p14="http://schemas.microsoft.com/office/powerpoint/2010/main" val="243517153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8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1A5FF1E8-2BAA-4847-8EA2-AC44B67B75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保持接口契约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统一使用 { code, message, data } 响应体，并由前端集中处理认证 Header。</a:t>
            </a:r>
          </a:p>
        </p:txBody>
      </p:sp>
      <p:sp>
        <p:nvSpPr>
          <p:cNvPr id="556" name="Google Shape;556;p61">
            <a:extLst xmlns:a="http://schemas.openxmlformats.org/drawingml/2006/main">
              <a:ext uri="{FF2B5EF4-FFF2-40B4-BE49-F238E27FC236}">
                <a16:creationId xmlns:a16="http://schemas.microsoft.com/office/drawing/2014/main" id="{D3BE4052-D3EC-43C8-BF09-43970E1047B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59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6FC8C93D-00CD-4943-AADD-E16EB5E36E9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守住空间兼容性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GeoTools 固定在 35.x；空间数据经 PostGIS 与 GeoServer 进入前端。</a:t>
            </a:r>
          </a:p>
        </p:txBody>
      </p:sp>
      <p:sp>
        <p:nvSpPr>
          <p:cNvPr id="560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DC35AE56-B436-4D7E-BC33-C53FBA2022B4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以可验证场景收口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优先完成能被用户体验和自动化测试共同验证的端到端闭环。</a:t>
            </a:r>
          </a:p>
        </p:txBody>
      </p:sp>
      <p:sp>
        <p:nvSpPr>
          <p:cNvPr id="557" name="Google Shape;557;p61">
            <a:extLst xmlns:a="http://schemas.openxmlformats.org/drawingml/2006/main">
              <a:ext uri="{FF2B5EF4-FFF2-40B4-BE49-F238E27FC236}">
                <a16:creationId xmlns:a16="http://schemas.microsoft.com/office/drawing/2014/main" id="{3DE37C6E-E061-49D8-A70F-D7BFD94BEE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团队协作重点</a:t>
            </a:r>
          </a:p>
        </p:txBody>
      </p:sp>
      <p:sp>
        <p:nvSpPr>
          <p:cNvPr id="561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DC1BF8E0-4ED6-4C0D-B46B-191B023A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382303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</a:p>
        </p:txBody>
      </p:sp>
      <p:sp>
        <p:nvSpPr>
          <p:cNvPr id="562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6CAC0C22-3A0F-4B76-97DF-978893CB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8" y="3378212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</a:p>
        </p:txBody>
      </p:sp>
      <p:sp>
        <p:nvSpPr>
          <p:cNvPr id="563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0885A03C-1CD4-4635-B2FE-8F06D711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597" y="3406849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85120012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6A4A8C5-2601-85AD-3D1E-8079D58F035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26339" y="449662"/>
            <a:ext cx="6730425" cy="2401447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r>
              <a:rPr sz="7200">
                <a:solidFill>
                  <a:schemeClr val="accent6">
                    <a:lumMod val="75000"/>
                  </a:schemeClr>
                </a:solidFill>
              </a:rPr>
              <a:t>让空间数据</a:t>
            </a:r>
          </a:p>
          <a:p xmlns:a="http://schemas.openxmlformats.org/drawingml/2006/main">
            <a:r>
              <a:rPr sz="7200">
                <a:solidFill>
                  <a:schemeClr val="accent6">
                    <a:lumMod val="75000"/>
                  </a:schemeClr>
                </a:solidFill>
              </a:rPr>
              <a:t>真正服务业务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0268A511-4B27-6E46-7765-2247D8E6C20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2669" y="3564938"/>
            <a:ext cx="3758374" cy="6146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/>
              <a:t>WebGIS 全栈平台</a:t>
            </a:r>
          </a:p>
          <a:p xmlns:a="http://schemas.openxmlformats.org/drawingml/2006/main">
            <a:r>
              <a:rPr sz="1800"/>
              <a:t>下一步：将学习模块沉淀为可用场景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A7725E9-20F2-2EAF-9816-0D2FEFF0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234" y="-5234152"/>
            <a:ext cx="1847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4B2C8E6-2382-F1A6-A0C1-A7364007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54014" y="-3090041"/>
            <a:ext cx="1847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12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a8326da4684806"/>
          <a:srcRect xmlns:a="http://schemas.openxmlformats.org/drawingml/2006/main" l="0" t="25645" r="0" b="61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63386"/>
            <a:ext cx="12192000" cy="20946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949709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2026-07-29T08:24:10.9000000Z</dcterms:created>
  <dcterms:modified xsi:type="dcterms:W3CDTF">2026-07-29T08:24:10.9010000Z</dcterms:modified>
</coreProperties>
</file>